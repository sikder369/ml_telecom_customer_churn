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T Firs Neue" charset="1" panose="02000503030000020004"/>
      <p:regular r:id="rId11"/>
    </p:embeddedFont>
    <p:embeddedFont>
      <p:font typeface="TT Firs Neue Bold" charset="1" panose="02000803030000020004"/>
      <p:regular r:id="rId12"/>
    </p:embeddedFont>
    <p:embeddedFont>
      <p:font typeface="Gagalin" charset="1" panose="00000500000000000000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0327" y="-860051"/>
            <a:ext cx="2752974" cy="27529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028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81014" y="362010"/>
            <a:ext cx="1829537" cy="18295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864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026" y="6682504"/>
            <a:ext cx="3515988" cy="3515988"/>
          </a:xfrm>
          <a:custGeom>
            <a:avLst/>
            <a:gdLst/>
            <a:ahLst/>
            <a:cxnLst/>
            <a:rect r="r" b="b" t="t" l="l"/>
            <a:pathLst>
              <a:path h="3515988" w="3515988">
                <a:moveTo>
                  <a:pt x="0" y="0"/>
                </a:moveTo>
                <a:lnTo>
                  <a:pt x="3515988" y="0"/>
                </a:lnTo>
                <a:lnTo>
                  <a:pt x="3515988" y="3515989"/>
                </a:lnTo>
                <a:lnTo>
                  <a:pt x="0" y="3515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141181"/>
            <a:ext cx="6227630" cy="5545667"/>
            <a:chOff x="0" y="0"/>
            <a:chExt cx="1136108" cy="10116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6108" cy="1011698"/>
            </a:xfrm>
            <a:custGeom>
              <a:avLst/>
              <a:gdLst/>
              <a:ahLst/>
              <a:cxnLst/>
              <a:rect r="r" b="b" t="t" l="l"/>
              <a:pathLst>
                <a:path h="1011698" w="1136108">
                  <a:moveTo>
                    <a:pt x="49726" y="0"/>
                  </a:moveTo>
                  <a:lnTo>
                    <a:pt x="1086382" y="0"/>
                  </a:lnTo>
                  <a:cubicBezTo>
                    <a:pt x="1113845" y="0"/>
                    <a:pt x="1136108" y="22263"/>
                    <a:pt x="1136108" y="49726"/>
                  </a:cubicBezTo>
                  <a:lnTo>
                    <a:pt x="1136108" y="961971"/>
                  </a:lnTo>
                  <a:cubicBezTo>
                    <a:pt x="1136108" y="975160"/>
                    <a:pt x="1130869" y="987808"/>
                    <a:pt x="1121544" y="997133"/>
                  </a:cubicBezTo>
                  <a:cubicBezTo>
                    <a:pt x="1112218" y="1006459"/>
                    <a:pt x="1099570" y="1011698"/>
                    <a:pt x="1086382" y="1011698"/>
                  </a:cubicBezTo>
                  <a:lnTo>
                    <a:pt x="49726" y="1011698"/>
                  </a:lnTo>
                  <a:cubicBezTo>
                    <a:pt x="36538" y="1011698"/>
                    <a:pt x="23890" y="1006459"/>
                    <a:pt x="14564" y="997133"/>
                  </a:cubicBezTo>
                  <a:cubicBezTo>
                    <a:pt x="5239" y="987808"/>
                    <a:pt x="0" y="975160"/>
                    <a:pt x="0" y="961971"/>
                  </a:cubicBezTo>
                  <a:lnTo>
                    <a:pt x="0" y="49726"/>
                  </a:lnTo>
                  <a:cubicBezTo>
                    <a:pt x="0" y="36538"/>
                    <a:pt x="5239" y="23890"/>
                    <a:pt x="14564" y="14564"/>
                  </a:cubicBezTo>
                  <a:cubicBezTo>
                    <a:pt x="23890" y="5239"/>
                    <a:pt x="36538" y="0"/>
                    <a:pt x="49726" y="0"/>
                  </a:cubicBezTo>
                  <a:close/>
                </a:path>
              </a:pathLst>
            </a:custGeom>
            <a:blipFill>
              <a:blip r:embed="rId4"/>
              <a:stretch>
                <a:fillRect l="-16726" t="0" r="-16726" b="0"/>
              </a:stretch>
            </a:blipFill>
            <a:ln w="47625" cap="rnd">
              <a:solidFill>
                <a:srgbClr val="20287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040327" y="5378303"/>
            <a:ext cx="4649332" cy="610379"/>
            <a:chOff x="0" y="0"/>
            <a:chExt cx="1224515" cy="160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4515" cy="160758"/>
            </a:xfrm>
            <a:custGeom>
              <a:avLst/>
              <a:gdLst/>
              <a:ahLst/>
              <a:cxnLst/>
              <a:rect r="r" b="b" t="t" l="l"/>
              <a:pathLst>
                <a:path h="160758" w="1224515">
                  <a:moveTo>
                    <a:pt x="80379" y="0"/>
                  </a:moveTo>
                  <a:lnTo>
                    <a:pt x="1144136" y="0"/>
                  </a:lnTo>
                  <a:cubicBezTo>
                    <a:pt x="1188529" y="0"/>
                    <a:pt x="1224515" y="35987"/>
                    <a:pt x="1224515" y="80379"/>
                  </a:cubicBezTo>
                  <a:lnTo>
                    <a:pt x="1224515" y="80379"/>
                  </a:lnTo>
                  <a:cubicBezTo>
                    <a:pt x="1224515" y="101697"/>
                    <a:pt x="1216047" y="122142"/>
                    <a:pt x="1200973" y="137216"/>
                  </a:cubicBezTo>
                  <a:cubicBezTo>
                    <a:pt x="1185899" y="152290"/>
                    <a:pt x="1165454" y="160758"/>
                    <a:pt x="1144136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24515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808604" y="7319249"/>
            <a:ext cx="2274321" cy="227432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11614" y="5378303"/>
            <a:ext cx="2228712" cy="617091"/>
            <a:chOff x="0" y="0"/>
            <a:chExt cx="586986" cy="1625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6986" cy="162526"/>
            </a:xfrm>
            <a:custGeom>
              <a:avLst/>
              <a:gdLst/>
              <a:ahLst/>
              <a:cxnLst/>
              <a:rect r="r" b="b" t="t" l="l"/>
              <a:pathLst>
                <a:path h="162526" w="586986">
                  <a:moveTo>
                    <a:pt x="81263" y="0"/>
                  </a:moveTo>
                  <a:lnTo>
                    <a:pt x="505723" y="0"/>
                  </a:lnTo>
                  <a:cubicBezTo>
                    <a:pt x="527275" y="0"/>
                    <a:pt x="547945" y="8562"/>
                    <a:pt x="563185" y="23801"/>
                  </a:cubicBezTo>
                  <a:cubicBezTo>
                    <a:pt x="578424" y="39041"/>
                    <a:pt x="586986" y="59711"/>
                    <a:pt x="586986" y="81263"/>
                  </a:cubicBezTo>
                  <a:lnTo>
                    <a:pt x="586986" y="81263"/>
                  </a:lnTo>
                  <a:cubicBezTo>
                    <a:pt x="586986" y="126143"/>
                    <a:pt x="550603" y="162526"/>
                    <a:pt x="505723" y="162526"/>
                  </a:cubicBezTo>
                  <a:lnTo>
                    <a:pt x="81263" y="162526"/>
                  </a:lnTo>
                  <a:cubicBezTo>
                    <a:pt x="36383" y="162526"/>
                    <a:pt x="0" y="126143"/>
                    <a:pt x="0" y="81263"/>
                  </a:cubicBezTo>
                  <a:lnTo>
                    <a:pt x="0" y="81263"/>
                  </a:lnTo>
                  <a:cubicBezTo>
                    <a:pt x="0" y="36383"/>
                    <a:pt x="36383" y="0"/>
                    <a:pt x="81263" y="0"/>
                  </a:cubicBez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86986" cy="200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93085" y="5385016"/>
            <a:ext cx="596574" cy="610379"/>
            <a:chOff x="0" y="0"/>
            <a:chExt cx="157122" cy="160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D8641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7122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416814" y="8273775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1" y="0"/>
                </a:lnTo>
                <a:lnTo>
                  <a:pt x="228571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508906" y="3385506"/>
            <a:ext cx="3515988" cy="3515988"/>
          </a:xfrm>
          <a:custGeom>
            <a:avLst/>
            <a:gdLst/>
            <a:ahLst/>
            <a:cxnLst/>
            <a:rect r="r" b="b" t="t" l="l"/>
            <a:pathLst>
              <a:path h="3515988" w="3515988">
                <a:moveTo>
                  <a:pt x="0" y="0"/>
                </a:moveTo>
                <a:lnTo>
                  <a:pt x="3515988" y="0"/>
                </a:lnTo>
                <a:lnTo>
                  <a:pt x="3515988" y="3515988"/>
                </a:lnTo>
                <a:lnTo>
                  <a:pt x="0" y="3515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936435" y="5478913"/>
            <a:ext cx="2103892" cy="37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226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226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resented By: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70004" y="5488411"/>
            <a:ext cx="31934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Pollob Sikder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33105" y="1383428"/>
            <a:ext cx="35288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Ri</a:t>
            </a: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mberio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28825" y="2228004"/>
            <a:ext cx="10432307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7199">
                <a:solidFill>
                  <a:srgbClr val="5E17EB"/>
                </a:solidFill>
                <a:latin typeface="Gagalin"/>
                <a:ea typeface="Gagalin"/>
                <a:cs typeface="Gagalin"/>
                <a:sym typeface="Gagalin"/>
              </a:rPr>
              <a:t>TelEcoM Customer Churn Prediction</a:t>
            </a:r>
            <a:r>
              <a:rPr lang="en-US" sz="71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55130" y="1383428"/>
            <a:ext cx="33812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www.</a:t>
            </a: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reallygreatsite.com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41277" y="852778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77087" y="5531780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290" y="7329794"/>
            <a:ext cx="2713969" cy="2713969"/>
          </a:xfrm>
          <a:custGeom>
            <a:avLst/>
            <a:gdLst/>
            <a:ahLst/>
            <a:cxnLst/>
            <a:rect r="r" b="b" t="t" l="l"/>
            <a:pathLst>
              <a:path h="2713969" w="2713969">
                <a:moveTo>
                  <a:pt x="0" y="0"/>
                </a:moveTo>
                <a:lnTo>
                  <a:pt x="2713969" y="0"/>
                </a:lnTo>
                <a:lnTo>
                  <a:pt x="2713969" y="2713969"/>
                </a:lnTo>
                <a:lnTo>
                  <a:pt x="0" y="2713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9727" y="2379378"/>
            <a:ext cx="4247520" cy="3628255"/>
            <a:chOff x="0" y="0"/>
            <a:chExt cx="1635463" cy="13970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5465" cy="1397021"/>
            </a:xfrm>
            <a:custGeom>
              <a:avLst/>
              <a:gdLst/>
              <a:ahLst/>
              <a:cxnLst/>
              <a:rect r="r" b="b" t="t" l="l"/>
              <a:pathLst>
                <a:path h="1397021" w="1635465">
                  <a:moveTo>
                    <a:pt x="1288506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117628"/>
                  </a:lnTo>
                  <a:cubicBezTo>
                    <a:pt x="0" y="1154139"/>
                    <a:pt x="13458" y="1189369"/>
                    <a:pt x="37800" y="1216581"/>
                  </a:cubicBezTo>
                  <a:lnTo>
                    <a:pt x="154967" y="1347557"/>
                  </a:lnTo>
                  <a:cubicBezTo>
                    <a:pt x="183122" y="1379032"/>
                    <a:pt x="223353" y="1397022"/>
                    <a:pt x="265584" y="1397021"/>
                  </a:cubicBezTo>
                  <a:lnTo>
                    <a:pt x="1487049" y="1397021"/>
                  </a:lnTo>
                  <a:cubicBezTo>
                    <a:pt x="1526411" y="1397021"/>
                    <a:pt x="1564162" y="1381385"/>
                    <a:pt x="1591995" y="1353552"/>
                  </a:cubicBezTo>
                  <a:cubicBezTo>
                    <a:pt x="1619828" y="1325718"/>
                    <a:pt x="1635465" y="1287968"/>
                    <a:pt x="1635465" y="1248606"/>
                  </a:cubicBezTo>
                  <a:lnTo>
                    <a:pt x="1635465" y="366141"/>
                  </a:lnTo>
                  <a:cubicBezTo>
                    <a:pt x="1635465" y="329143"/>
                    <a:pt x="1621646" y="293478"/>
                    <a:pt x="1596716" y="266140"/>
                  </a:cubicBezTo>
                  <a:lnTo>
                    <a:pt x="1398173" y="48414"/>
                  </a:lnTo>
                  <a:cubicBezTo>
                    <a:pt x="1370051" y="17574"/>
                    <a:pt x="1330243" y="0"/>
                    <a:pt x="1288506" y="0"/>
                  </a:cubicBezTo>
                  <a:close/>
                </a:path>
              </a:pathLst>
            </a:custGeom>
            <a:blipFill>
              <a:blip r:embed="rId4"/>
              <a:stretch>
                <a:fillRect l="-14007" t="0" r="-14007" b="0"/>
              </a:stretch>
            </a:blipFill>
            <a:ln w="47625" cap="sq">
              <a:solidFill>
                <a:srgbClr val="20287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523010" y="8397478"/>
            <a:ext cx="578602" cy="578602"/>
          </a:xfrm>
          <a:custGeom>
            <a:avLst/>
            <a:gdLst/>
            <a:ahLst/>
            <a:cxnLst/>
            <a:rect r="r" b="b" t="t" l="l"/>
            <a:pathLst>
              <a:path h="578602" w="578602">
                <a:moveTo>
                  <a:pt x="0" y="0"/>
                </a:moveTo>
                <a:lnTo>
                  <a:pt x="578601" y="0"/>
                </a:lnTo>
                <a:lnTo>
                  <a:pt x="578601" y="578601"/>
                </a:lnTo>
                <a:lnTo>
                  <a:pt x="0" y="578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527363" y="2338521"/>
            <a:ext cx="8731391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5E17EB"/>
                </a:solidFill>
                <a:latin typeface="Gagalin"/>
                <a:ea typeface="Gagalin"/>
                <a:cs typeface="Gagalin"/>
                <a:sym typeface="Gagalin"/>
              </a:rPr>
              <a:t>Technologies Used: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12781" y="8488341"/>
            <a:ext cx="249194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@reallygreatsite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1339" y="4043765"/>
            <a:ext cx="8905674" cy="425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231" indent="-371615" lvl="1">
              <a:lnSpc>
                <a:spcPts val="4819"/>
              </a:lnSpc>
              <a:buFont typeface="Arial"/>
              <a:buChar char="•"/>
            </a:pP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Py</a:t>
            </a: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thon</a:t>
            </a:r>
          </a:p>
          <a:p>
            <a:pPr algn="l" marL="743231" indent="-371615" lvl="1">
              <a:lnSpc>
                <a:spcPts val="4819"/>
              </a:lnSpc>
              <a:buFont typeface="Arial"/>
              <a:buChar char="•"/>
            </a:pP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Pandas</a:t>
            </a:r>
          </a:p>
          <a:p>
            <a:pPr algn="l" marL="743231" indent="-371615" lvl="1">
              <a:lnSpc>
                <a:spcPts val="4819"/>
              </a:lnSpc>
              <a:buFont typeface="Arial"/>
              <a:buChar char="•"/>
            </a:pP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Scikit-learn</a:t>
            </a:r>
          </a:p>
          <a:p>
            <a:pPr algn="l" marL="743231" indent="-371615" lvl="1">
              <a:lnSpc>
                <a:spcPts val="4819"/>
              </a:lnSpc>
              <a:buFont typeface="Arial"/>
              <a:buChar char="•"/>
            </a:pP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Streamlit</a:t>
            </a:r>
          </a:p>
          <a:p>
            <a:pPr algn="l" marL="743231" indent="-371615" lvl="1">
              <a:lnSpc>
                <a:spcPts val="4819"/>
              </a:lnSpc>
              <a:buFont typeface="Arial"/>
              <a:buChar char="•"/>
            </a:pP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Matplotlib</a:t>
            </a:r>
          </a:p>
          <a:p>
            <a:pPr algn="l" marL="743231" indent="-371615" lvl="1">
              <a:lnSpc>
                <a:spcPts val="4819"/>
              </a:lnSpc>
              <a:buFont typeface="Arial"/>
              <a:buChar char="•"/>
            </a:pPr>
            <a:r>
              <a:rPr lang="en-US" b="true" sz="34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Seaborn</a:t>
            </a:r>
          </a:p>
          <a:p>
            <a:pPr algn="l">
              <a:lnSpc>
                <a:spcPts val="481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723511"/>
            <a:ext cx="4778547" cy="610379"/>
            <a:chOff x="0" y="0"/>
            <a:chExt cx="1258547" cy="160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8547" cy="160758"/>
            </a:xfrm>
            <a:custGeom>
              <a:avLst/>
              <a:gdLst/>
              <a:ahLst/>
              <a:cxnLst/>
              <a:rect r="r" b="b" t="t" l="l"/>
              <a:pathLst>
                <a:path h="160758" w="1258547">
                  <a:moveTo>
                    <a:pt x="80379" y="0"/>
                  </a:moveTo>
                  <a:lnTo>
                    <a:pt x="1178168" y="0"/>
                  </a:lnTo>
                  <a:cubicBezTo>
                    <a:pt x="1199486" y="0"/>
                    <a:pt x="1219931" y="8468"/>
                    <a:pt x="1235005" y="23542"/>
                  </a:cubicBezTo>
                  <a:cubicBezTo>
                    <a:pt x="1250079" y="38616"/>
                    <a:pt x="1258547" y="59061"/>
                    <a:pt x="1258547" y="80379"/>
                  </a:cubicBezTo>
                  <a:lnTo>
                    <a:pt x="1258547" y="80379"/>
                  </a:lnTo>
                  <a:cubicBezTo>
                    <a:pt x="1258547" y="101697"/>
                    <a:pt x="1250079" y="122142"/>
                    <a:pt x="1235005" y="137216"/>
                  </a:cubicBezTo>
                  <a:cubicBezTo>
                    <a:pt x="1219931" y="152290"/>
                    <a:pt x="1199486" y="160758"/>
                    <a:pt x="117816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5854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23511"/>
            <a:ext cx="596574" cy="610379"/>
            <a:chOff x="0" y="0"/>
            <a:chExt cx="157122" cy="160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D8641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7122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41277" y="852778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600216" y="8710389"/>
            <a:ext cx="2752974" cy="275297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0287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40118" y="-896646"/>
            <a:ext cx="1829537" cy="182953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046041" y="2729681"/>
            <a:ext cx="3515988" cy="3515988"/>
          </a:xfrm>
          <a:custGeom>
            <a:avLst/>
            <a:gdLst/>
            <a:ahLst/>
            <a:cxnLst/>
            <a:rect r="r" b="b" t="t" l="l"/>
            <a:pathLst>
              <a:path h="3515988" w="3515988">
                <a:moveTo>
                  <a:pt x="0" y="0"/>
                </a:moveTo>
                <a:lnTo>
                  <a:pt x="3515988" y="0"/>
                </a:lnTo>
                <a:lnTo>
                  <a:pt x="3515988" y="3515988"/>
                </a:lnTo>
                <a:lnTo>
                  <a:pt x="0" y="3515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7677036" y="496552"/>
            <a:ext cx="1160238" cy="116023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73678" y="1641469"/>
            <a:ext cx="7593493" cy="6010266"/>
            <a:chOff x="0" y="0"/>
            <a:chExt cx="1637768" cy="1296297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637770" cy="1296297"/>
            </a:xfrm>
            <a:custGeom>
              <a:avLst/>
              <a:gdLst/>
              <a:ahLst/>
              <a:cxnLst/>
              <a:rect r="r" b="b" t="t" l="l"/>
              <a:pathLst>
                <a:path h="1296297" w="1637770">
                  <a:moveTo>
                    <a:pt x="346959" y="0"/>
                  </a:moveTo>
                  <a:lnTo>
                    <a:pt x="1489355" y="0"/>
                  </a:lnTo>
                  <a:cubicBezTo>
                    <a:pt x="1571323" y="0"/>
                    <a:pt x="1637770" y="66448"/>
                    <a:pt x="1637770" y="148415"/>
                  </a:cubicBezTo>
                  <a:lnTo>
                    <a:pt x="1637770" y="1016904"/>
                  </a:lnTo>
                  <a:cubicBezTo>
                    <a:pt x="1637770" y="1053415"/>
                    <a:pt x="1624312" y="1088645"/>
                    <a:pt x="1599970" y="1115856"/>
                  </a:cubicBezTo>
                  <a:lnTo>
                    <a:pt x="1482804" y="1246833"/>
                  </a:lnTo>
                  <a:cubicBezTo>
                    <a:pt x="1454648" y="1278308"/>
                    <a:pt x="1414417" y="1296298"/>
                    <a:pt x="1372187" y="1296297"/>
                  </a:cubicBezTo>
                  <a:lnTo>
                    <a:pt x="148416" y="1296297"/>
                  </a:lnTo>
                  <a:cubicBezTo>
                    <a:pt x="109054" y="1296297"/>
                    <a:pt x="71303" y="1280661"/>
                    <a:pt x="43470" y="1252828"/>
                  </a:cubicBezTo>
                  <a:cubicBezTo>
                    <a:pt x="15637" y="1224994"/>
                    <a:pt x="0" y="1187244"/>
                    <a:pt x="0" y="1147882"/>
                  </a:cubicBezTo>
                  <a:lnTo>
                    <a:pt x="0" y="366141"/>
                  </a:lnTo>
                  <a:cubicBezTo>
                    <a:pt x="-1" y="329143"/>
                    <a:pt x="13819" y="293478"/>
                    <a:pt x="38749" y="266140"/>
                  </a:cubicBezTo>
                  <a:lnTo>
                    <a:pt x="237292" y="48414"/>
                  </a:lnTo>
                  <a:cubicBezTo>
                    <a:pt x="265414" y="17574"/>
                    <a:pt x="305222" y="0"/>
                    <a:pt x="34695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18617" b="0"/>
              </a:stretch>
            </a:blipFill>
            <a:ln w="47625" cap="sq">
              <a:solidFill>
                <a:srgbClr val="202870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774819"/>
            <a:ext cx="6857213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70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  <a:r>
              <a:rPr lang="en-US" sz="7099">
                <a:solidFill>
                  <a:srgbClr val="8C52FF"/>
                </a:solidFill>
                <a:latin typeface="Gagalin"/>
                <a:ea typeface="Gagalin"/>
                <a:cs typeface="Gagalin"/>
                <a:sym typeface="Gagalin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3340" y="2964808"/>
            <a:ext cx="7793413" cy="394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1477" indent="-300738" lvl="1">
              <a:lnSpc>
                <a:spcPts val="3900"/>
              </a:lnSpc>
              <a:buFont typeface="Arial"/>
              <a:buChar char="•"/>
            </a:pPr>
            <a:r>
              <a:rPr lang="en-US" b="true" sz="278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b="true" sz="278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redict customer churn using machine learning</a:t>
            </a:r>
          </a:p>
          <a:p>
            <a:pPr algn="l" marL="601477" indent="-300738" lvl="1">
              <a:lnSpc>
                <a:spcPts val="3900"/>
              </a:lnSpc>
              <a:buFont typeface="Arial"/>
              <a:buChar char="•"/>
            </a:pPr>
            <a:r>
              <a:rPr lang="en-US" b="true" sz="278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Accuracy Test By using Different ML Models</a:t>
            </a:r>
          </a:p>
          <a:p>
            <a:pPr algn="l" marL="601477" indent="-300738" lvl="1">
              <a:lnSpc>
                <a:spcPts val="3900"/>
              </a:lnSpc>
              <a:buFont typeface="Arial"/>
              <a:buChar char="•"/>
            </a:pPr>
            <a:r>
              <a:rPr lang="en-US" b="true" sz="278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Select The Best Model For Churn Prediction</a:t>
            </a:r>
          </a:p>
          <a:p>
            <a:pPr algn="l" marL="601477" indent="-300738" lvl="1">
              <a:lnSpc>
                <a:spcPts val="3900"/>
              </a:lnSpc>
              <a:buFont typeface="Arial"/>
              <a:buChar char="•"/>
            </a:pPr>
            <a:r>
              <a:rPr lang="en-US" b="true" sz="278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Build a Apps to Predict Customer Churn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23511"/>
            <a:ext cx="596574" cy="610379"/>
            <a:chOff x="0" y="0"/>
            <a:chExt cx="157122" cy="160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D8641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7122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1277" y="852778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724274" y="5143500"/>
            <a:ext cx="2752974" cy="27529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864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76231" y="-914768"/>
            <a:ext cx="1829537" cy="182953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919887" y="8602986"/>
            <a:ext cx="3270228" cy="3270228"/>
          </a:xfrm>
          <a:custGeom>
            <a:avLst/>
            <a:gdLst/>
            <a:ahLst/>
            <a:cxnLst/>
            <a:rect r="r" b="b" t="t" l="l"/>
            <a:pathLst>
              <a:path h="3270228" w="3270228">
                <a:moveTo>
                  <a:pt x="0" y="0"/>
                </a:moveTo>
                <a:lnTo>
                  <a:pt x="3270228" y="0"/>
                </a:lnTo>
                <a:lnTo>
                  <a:pt x="3270228" y="3270229"/>
                </a:lnTo>
                <a:lnTo>
                  <a:pt x="0" y="3270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59300" y="3335555"/>
            <a:ext cx="2713969" cy="2713969"/>
          </a:xfrm>
          <a:custGeom>
            <a:avLst/>
            <a:gdLst/>
            <a:ahLst/>
            <a:cxnLst/>
            <a:rect r="r" b="b" t="t" l="l"/>
            <a:pathLst>
              <a:path h="2713969" w="2713969">
                <a:moveTo>
                  <a:pt x="0" y="0"/>
                </a:moveTo>
                <a:lnTo>
                  <a:pt x="2713969" y="0"/>
                </a:lnTo>
                <a:lnTo>
                  <a:pt x="2713969" y="2713968"/>
                </a:lnTo>
                <a:lnTo>
                  <a:pt x="0" y="27139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555001" y="5143500"/>
            <a:ext cx="1160238" cy="11602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2505" y="5125959"/>
            <a:ext cx="2713969" cy="2713969"/>
          </a:xfrm>
          <a:custGeom>
            <a:avLst/>
            <a:gdLst/>
            <a:ahLst/>
            <a:cxnLst/>
            <a:rect r="r" b="b" t="t" l="l"/>
            <a:pathLst>
              <a:path h="2713969" w="2713969">
                <a:moveTo>
                  <a:pt x="0" y="0"/>
                </a:moveTo>
                <a:lnTo>
                  <a:pt x="2713969" y="0"/>
                </a:lnTo>
                <a:lnTo>
                  <a:pt x="2713969" y="2713969"/>
                </a:lnTo>
                <a:lnTo>
                  <a:pt x="0" y="2713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81778" y="1461796"/>
            <a:ext cx="6824706" cy="5856851"/>
            <a:chOff x="0" y="0"/>
            <a:chExt cx="2034170" cy="1745691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2034174" cy="1745691"/>
            </a:xfrm>
            <a:custGeom>
              <a:avLst/>
              <a:gdLst/>
              <a:ahLst/>
              <a:cxnLst/>
              <a:rect r="r" b="b" t="t" l="l"/>
              <a:pathLst>
                <a:path h="1745691" w="2034174">
                  <a:moveTo>
                    <a:pt x="414265" y="38122"/>
                  </a:moveTo>
                  <a:cubicBezTo>
                    <a:pt x="435965" y="13865"/>
                    <a:pt x="466970" y="0"/>
                    <a:pt x="499516" y="0"/>
                  </a:cubicBezTo>
                  <a:lnTo>
                    <a:pt x="1919788" y="0"/>
                  </a:lnTo>
                  <a:cubicBezTo>
                    <a:pt x="1982961" y="1"/>
                    <a:pt x="2034172" y="51211"/>
                    <a:pt x="2034174" y="114384"/>
                  </a:cubicBezTo>
                  <a:lnTo>
                    <a:pt x="2034174" y="501214"/>
                  </a:lnTo>
                  <a:lnTo>
                    <a:pt x="2034174" y="1297206"/>
                  </a:lnTo>
                  <a:cubicBezTo>
                    <a:pt x="2034174" y="1360378"/>
                    <a:pt x="1982962" y="1411590"/>
                    <a:pt x="1919790" y="1411590"/>
                  </a:cubicBezTo>
                  <a:lnTo>
                    <a:pt x="873041" y="1411590"/>
                  </a:lnTo>
                  <a:cubicBezTo>
                    <a:pt x="840495" y="1411590"/>
                    <a:pt x="809489" y="1425454"/>
                    <a:pt x="787790" y="1449711"/>
                  </a:cubicBezTo>
                  <a:lnTo>
                    <a:pt x="557126" y="1707569"/>
                  </a:lnTo>
                  <a:cubicBezTo>
                    <a:pt x="535426" y="1731827"/>
                    <a:pt x="504420" y="1745691"/>
                    <a:pt x="471874" y="1745691"/>
                  </a:cubicBezTo>
                  <a:lnTo>
                    <a:pt x="114388" y="1745691"/>
                  </a:lnTo>
                  <a:cubicBezTo>
                    <a:pt x="84051" y="1745692"/>
                    <a:pt x="54957" y="1733642"/>
                    <a:pt x="33505" y="1712191"/>
                  </a:cubicBezTo>
                  <a:cubicBezTo>
                    <a:pt x="12053" y="1690741"/>
                    <a:pt x="1" y="1661647"/>
                    <a:pt x="0" y="1631311"/>
                  </a:cubicBezTo>
                  <a:lnTo>
                    <a:pt x="0" y="562247"/>
                  </a:lnTo>
                  <a:cubicBezTo>
                    <a:pt x="0" y="522943"/>
                    <a:pt x="14487" y="485019"/>
                    <a:pt x="40692" y="455726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28610" b="0"/>
              </a:stretch>
            </a:blipFill>
            <a:ln w="47625" cap="sq">
              <a:solidFill>
                <a:srgbClr val="202870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69847" y="2372270"/>
            <a:ext cx="5107778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9847" y="3724549"/>
            <a:ext cx="8111931" cy="453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Due to time limitations, the business and financial aspects of customer churn were not explored in detail.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Only three machine learning models were tested and compared during this project.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project focused mainly on technical implementation and model development.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Further improvements could be achieved by using larger datasets and advanced machine learning algorithms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63807" y="6890359"/>
            <a:ext cx="4835995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Unde</a:t>
            </a:r>
            <a:r>
              <a:rPr lang="en-US" sz="21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rstanding customer behavior enables the company to deliver relevant solutions, improve engagement, and strengthen relationships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723511"/>
            <a:ext cx="4778547" cy="610379"/>
            <a:chOff x="0" y="0"/>
            <a:chExt cx="1258547" cy="1607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8547" cy="160758"/>
            </a:xfrm>
            <a:custGeom>
              <a:avLst/>
              <a:gdLst/>
              <a:ahLst/>
              <a:cxnLst/>
              <a:rect r="r" b="b" t="t" l="l"/>
              <a:pathLst>
                <a:path h="160758" w="1258547">
                  <a:moveTo>
                    <a:pt x="80379" y="0"/>
                  </a:moveTo>
                  <a:lnTo>
                    <a:pt x="1178168" y="0"/>
                  </a:lnTo>
                  <a:cubicBezTo>
                    <a:pt x="1199486" y="0"/>
                    <a:pt x="1219931" y="8468"/>
                    <a:pt x="1235005" y="23542"/>
                  </a:cubicBezTo>
                  <a:cubicBezTo>
                    <a:pt x="1250079" y="38616"/>
                    <a:pt x="1258547" y="59061"/>
                    <a:pt x="1258547" y="80379"/>
                  </a:cubicBezTo>
                  <a:lnTo>
                    <a:pt x="1258547" y="80379"/>
                  </a:lnTo>
                  <a:cubicBezTo>
                    <a:pt x="1258547" y="101697"/>
                    <a:pt x="1250079" y="122142"/>
                    <a:pt x="1235005" y="137216"/>
                  </a:cubicBezTo>
                  <a:cubicBezTo>
                    <a:pt x="1219931" y="152290"/>
                    <a:pt x="1199486" y="160758"/>
                    <a:pt x="117816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8547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23511"/>
            <a:ext cx="596574" cy="610379"/>
            <a:chOff x="0" y="0"/>
            <a:chExt cx="157122" cy="160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D864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7122" cy="19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41277" y="852778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434616" y="8825204"/>
            <a:ext cx="2752974" cy="27529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8641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80030" y="-914768"/>
            <a:ext cx="1829537" cy="182953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2487288" y="5424898"/>
            <a:ext cx="3515988" cy="3515988"/>
          </a:xfrm>
          <a:custGeom>
            <a:avLst/>
            <a:gdLst/>
            <a:ahLst/>
            <a:cxnLst/>
            <a:rect r="r" b="b" t="t" l="l"/>
            <a:pathLst>
              <a:path h="3515988" w="3515988">
                <a:moveTo>
                  <a:pt x="0" y="0"/>
                </a:moveTo>
                <a:lnTo>
                  <a:pt x="3515988" y="0"/>
                </a:lnTo>
                <a:lnTo>
                  <a:pt x="3515988" y="3515988"/>
                </a:lnTo>
                <a:lnTo>
                  <a:pt x="0" y="3515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997506" y="3192055"/>
            <a:ext cx="1160238" cy="116023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290" y="7329794"/>
            <a:ext cx="2713969" cy="2713969"/>
          </a:xfrm>
          <a:custGeom>
            <a:avLst/>
            <a:gdLst/>
            <a:ahLst/>
            <a:cxnLst/>
            <a:rect r="r" b="b" t="t" l="l"/>
            <a:pathLst>
              <a:path h="2713969" w="2713969">
                <a:moveTo>
                  <a:pt x="0" y="0"/>
                </a:moveTo>
                <a:lnTo>
                  <a:pt x="2713969" y="0"/>
                </a:lnTo>
                <a:lnTo>
                  <a:pt x="2713969" y="2713969"/>
                </a:lnTo>
                <a:lnTo>
                  <a:pt x="0" y="2713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0981" y="7552154"/>
            <a:ext cx="578602" cy="578602"/>
          </a:xfrm>
          <a:custGeom>
            <a:avLst/>
            <a:gdLst/>
            <a:ahLst/>
            <a:cxnLst/>
            <a:rect r="r" b="b" t="t" l="l"/>
            <a:pathLst>
              <a:path h="578602" w="578602">
                <a:moveTo>
                  <a:pt x="0" y="0"/>
                </a:moveTo>
                <a:lnTo>
                  <a:pt x="578602" y="0"/>
                </a:lnTo>
                <a:lnTo>
                  <a:pt x="578602" y="578601"/>
                </a:lnTo>
                <a:lnTo>
                  <a:pt x="0" y="578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407091" y="2132368"/>
            <a:ext cx="9252148" cy="124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7"/>
              </a:lnSpc>
            </a:pPr>
            <a:r>
              <a:rPr lang="en-US" sz="9227">
                <a:solidFill>
                  <a:srgbClr val="8C52FF"/>
                </a:solidFill>
                <a:latin typeface="Gagalin"/>
                <a:ea typeface="Gagalin"/>
                <a:cs typeface="Gagalin"/>
                <a:sym typeface="Gagalin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62307" y="7678577"/>
            <a:ext cx="1046263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Github: https://github.com/Sikder369/ML_Telecom_Customer_Churn.git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26213" y="3328773"/>
            <a:ext cx="521390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</a:t>
            </a:r>
            <a:r>
              <a:rPr lang="en-US" sz="3600" b="tru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uestions &amp; Answers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37295" y="4487675"/>
            <a:ext cx="4778547" cy="717253"/>
            <a:chOff x="0" y="0"/>
            <a:chExt cx="1258547" cy="1889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8547" cy="188906"/>
            </a:xfrm>
            <a:custGeom>
              <a:avLst/>
              <a:gdLst/>
              <a:ahLst/>
              <a:cxnLst/>
              <a:rect r="r" b="b" t="t" l="l"/>
              <a:pathLst>
                <a:path h="188906" w="1258547">
                  <a:moveTo>
                    <a:pt x="82627" y="0"/>
                  </a:moveTo>
                  <a:lnTo>
                    <a:pt x="1175920" y="0"/>
                  </a:lnTo>
                  <a:cubicBezTo>
                    <a:pt x="1197834" y="0"/>
                    <a:pt x="1218851" y="8705"/>
                    <a:pt x="1234346" y="24201"/>
                  </a:cubicBezTo>
                  <a:cubicBezTo>
                    <a:pt x="1249842" y="39697"/>
                    <a:pt x="1258547" y="60713"/>
                    <a:pt x="1258547" y="82627"/>
                  </a:cubicBezTo>
                  <a:lnTo>
                    <a:pt x="1258547" y="106279"/>
                  </a:lnTo>
                  <a:cubicBezTo>
                    <a:pt x="1258547" y="128193"/>
                    <a:pt x="1249842" y="149210"/>
                    <a:pt x="1234346" y="164705"/>
                  </a:cubicBezTo>
                  <a:cubicBezTo>
                    <a:pt x="1218851" y="180201"/>
                    <a:pt x="1197834" y="188906"/>
                    <a:pt x="1175920" y="188906"/>
                  </a:cubicBezTo>
                  <a:lnTo>
                    <a:pt x="82627" y="188906"/>
                  </a:lnTo>
                  <a:cubicBezTo>
                    <a:pt x="60713" y="188906"/>
                    <a:pt x="39697" y="180201"/>
                    <a:pt x="24201" y="164705"/>
                  </a:cubicBezTo>
                  <a:cubicBezTo>
                    <a:pt x="8705" y="149210"/>
                    <a:pt x="0" y="128193"/>
                    <a:pt x="0" y="106279"/>
                  </a:cubicBezTo>
                  <a:lnTo>
                    <a:pt x="0" y="82627"/>
                  </a:lnTo>
                  <a:cubicBezTo>
                    <a:pt x="0" y="60713"/>
                    <a:pt x="8705" y="39697"/>
                    <a:pt x="24201" y="24201"/>
                  </a:cubicBezTo>
                  <a:cubicBezTo>
                    <a:pt x="39697" y="8705"/>
                    <a:pt x="60713" y="0"/>
                    <a:pt x="82627" y="0"/>
                  </a:cubicBez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58547" cy="236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By Pollob Sikder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19006" y="4518909"/>
            <a:ext cx="624822" cy="686019"/>
            <a:chOff x="0" y="0"/>
            <a:chExt cx="164562" cy="180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62" cy="180680"/>
            </a:xfrm>
            <a:custGeom>
              <a:avLst/>
              <a:gdLst/>
              <a:ahLst/>
              <a:cxnLst/>
              <a:rect r="r" b="b" t="t" l="l"/>
              <a:pathLst>
                <a:path h="180680" w="164562">
                  <a:moveTo>
                    <a:pt x="82281" y="0"/>
                  </a:moveTo>
                  <a:lnTo>
                    <a:pt x="82281" y="0"/>
                  </a:lnTo>
                  <a:cubicBezTo>
                    <a:pt x="104103" y="0"/>
                    <a:pt x="125032" y="8669"/>
                    <a:pt x="140463" y="24100"/>
                  </a:cubicBezTo>
                  <a:cubicBezTo>
                    <a:pt x="155893" y="39530"/>
                    <a:pt x="164562" y="60459"/>
                    <a:pt x="164562" y="82281"/>
                  </a:cubicBezTo>
                  <a:lnTo>
                    <a:pt x="164562" y="98399"/>
                  </a:lnTo>
                  <a:cubicBezTo>
                    <a:pt x="164562" y="120221"/>
                    <a:pt x="155893" y="141150"/>
                    <a:pt x="140463" y="156580"/>
                  </a:cubicBezTo>
                  <a:cubicBezTo>
                    <a:pt x="125032" y="172011"/>
                    <a:pt x="104103" y="180680"/>
                    <a:pt x="82281" y="180680"/>
                  </a:cubicBezTo>
                  <a:lnTo>
                    <a:pt x="82281" y="180680"/>
                  </a:lnTo>
                  <a:cubicBezTo>
                    <a:pt x="60459" y="180680"/>
                    <a:pt x="39530" y="172011"/>
                    <a:pt x="24100" y="156580"/>
                  </a:cubicBezTo>
                  <a:cubicBezTo>
                    <a:pt x="8669" y="141150"/>
                    <a:pt x="0" y="120221"/>
                    <a:pt x="0" y="98399"/>
                  </a:cubicBezTo>
                  <a:lnTo>
                    <a:pt x="0" y="82281"/>
                  </a:lnTo>
                  <a:cubicBezTo>
                    <a:pt x="0" y="60459"/>
                    <a:pt x="8669" y="39530"/>
                    <a:pt x="24100" y="24100"/>
                  </a:cubicBezTo>
                  <a:cubicBezTo>
                    <a:pt x="39530" y="8669"/>
                    <a:pt x="60459" y="0"/>
                    <a:pt x="82281" y="0"/>
                  </a:cubicBezTo>
                  <a:close/>
                </a:path>
              </a:pathLst>
            </a:custGeom>
            <a:solidFill>
              <a:srgbClr val="D8641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62" cy="21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317132" y="4684323"/>
            <a:ext cx="266462" cy="388725"/>
          </a:xfrm>
          <a:custGeom>
            <a:avLst/>
            <a:gdLst/>
            <a:ahLst/>
            <a:cxnLst/>
            <a:rect r="r" b="b" t="t" l="l"/>
            <a:pathLst>
              <a:path h="388725" w="266462">
                <a:moveTo>
                  <a:pt x="0" y="0"/>
                </a:moveTo>
                <a:lnTo>
                  <a:pt x="266462" y="0"/>
                </a:lnTo>
                <a:lnTo>
                  <a:pt x="266462" y="388725"/>
                </a:lnTo>
                <a:lnTo>
                  <a:pt x="0" y="388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600216" y="8710389"/>
            <a:ext cx="2752974" cy="275297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028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40118" y="-896646"/>
            <a:ext cx="1829537" cy="182953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046041" y="2729681"/>
            <a:ext cx="3515988" cy="3515988"/>
          </a:xfrm>
          <a:custGeom>
            <a:avLst/>
            <a:gdLst/>
            <a:ahLst/>
            <a:cxnLst/>
            <a:rect r="r" b="b" t="t" l="l"/>
            <a:pathLst>
              <a:path h="3515988" w="3515988">
                <a:moveTo>
                  <a:pt x="0" y="0"/>
                </a:moveTo>
                <a:lnTo>
                  <a:pt x="3515988" y="0"/>
                </a:lnTo>
                <a:lnTo>
                  <a:pt x="3515988" y="3515988"/>
                </a:lnTo>
                <a:lnTo>
                  <a:pt x="0" y="35159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780925" y="789277"/>
            <a:ext cx="1160238" cy="116023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0287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DAHJt3TREl8</dc:identifier>
  <dcterms:modified xsi:type="dcterms:W3CDTF">2011-08-01T06:04:30Z</dcterms:modified>
  <cp:revision>1</cp:revision>
  <dc:title>Telco Customer Churn Prediction Using Logistic Regression</dc:title>
</cp:coreProperties>
</file>